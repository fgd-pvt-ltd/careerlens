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Segoe UI"/>
              </a:defRPr>
            </a:pPr>
            <a:r>
              <a:t>ProfiQ · AI-Powered Employability &amp; Career Readiness Analyzer  |  DataQuest 3.0 · Round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2926080" cy="310896"/>
          </a:xfrm>
          <a:prstGeom prst="roundRect">
            <a:avLst/>
          </a:prstGeom>
          <a:solidFill>
            <a:srgbClr val="FFF1F2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36576" bIns="0"/>
          <a:lstStyle/>
          <a:p>
            <a:pPr algn="ctr">
              <a:defRPr sz="950" b="1">
                <a:solidFill>
                  <a:srgbClr val="E11D48"/>
                </a:solidFill>
                <a:latin typeface="Segoe UI"/>
              </a:defRPr>
            </a:pPr>
            <a:r>
              <a:t>DATAQUEST 3.0 · TRACK DQWL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12801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4600" b="1">
                <a:solidFill>
                  <a:srgbClr val="111827"/>
                </a:solidFill>
                <a:latin typeface="Segoe UI"/>
              </a:defRPr>
            </a:pPr>
            <a:r>
              <a:t>ProfiQ</a:t>
            </a:r>
          </a:p>
          <a:p>
            <a:pPr>
              <a:spcBef>
                <a:spcPts val="400"/>
              </a:spcBef>
              <a:defRPr sz="1700" b="1">
                <a:solidFill>
                  <a:srgbClr val="2563EB"/>
                </a:solidFill>
                <a:latin typeface="Segoe UI"/>
              </a:defRPr>
            </a:pPr>
            <a:r>
              <a:t>AI-Powered Employability &amp; Career Readiness Analyzer</a:t>
            </a:r>
          </a:p>
          <a:p>
            <a:pPr>
              <a:spcBef>
                <a:spcPts val="300"/>
              </a:spcBef>
              <a:defRPr sz="1200">
                <a:solidFill>
                  <a:srgbClr val="4B5563"/>
                </a:solidFill>
                <a:latin typeface="Segoe UI"/>
              </a:defRPr>
            </a:pPr>
            <a:r>
              <a:t>From Unverified Resume Claims to Observable Proof of Work — Bridging the Gap Between Student Skills and Industry Benchmarks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14600"/>
            <a:ext cx="621792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256032" bIns="182880"/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CORE PROJECT HIGHLIGHTS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111827"/>
                </a:solidFill>
                <a:latin typeface="Segoe UI"/>
              </a:rPr>
              <a:t>• Evidence-Based Skill Verification: </a:t>
            </a:r>
            <a:r>
              <a:rPr sz="1000">
                <a:solidFill>
                  <a:srgbClr val="4B5563"/>
                </a:solidFill>
                <a:latin typeface="Segoe UI"/>
              </a:rPr>
              <a:t>Cross-validates claimed technologies against live GitHub repositories, commit velocity, and code architecture rather than passive resume keywords.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111827"/>
                </a:solidFill>
                <a:latin typeface="Segoe UI"/>
              </a:rPr>
              <a:t>• Deterministic Readiness Scoring: </a:t>
            </a:r>
            <a:r>
              <a:rPr sz="1000">
                <a:solidFill>
                  <a:srgbClr val="4B5563"/>
                </a:solidFill>
                <a:latin typeface="Segoe UI"/>
              </a:rPr>
              <a:t>Mathematically balances skill alignment (60%) and evidence authenticity (40%) to eliminate resume inflation and gaming.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111827"/>
                </a:solidFill>
                <a:latin typeface="Segoe UI"/>
              </a:rPr>
              <a:t>• Actionable Career Remediation: </a:t>
            </a:r>
            <a:r>
              <a:rPr sz="1000">
                <a:solidFill>
                  <a:srgbClr val="4B5563"/>
                </a:solidFill>
                <a:latin typeface="Segoe UI"/>
              </a:rPr>
              <a:t>Diagnoses candidate role deficits and generates automated, week-by-week milestone roadmaps with curated technical resources.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111827"/>
                </a:solidFill>
                <a:latin typeface="Segoe UI"/>
              </a:rPr>
              <a:t>• Institutional Placement Insights: </a:t>
            </a:r>
            <a:r>
              <a:rPr sz="1000">
                <a:solidFill>
                  <a:srgbClr val="4B5563"/>
                </a:solidFill>
                <a:latin typeface="Segoe UI"/>
              </a:rPr>
              <a:t>Provides university placement cells with batch-level analytics, cohort readiness distributions, and skill gap heatmaps to run targeted campus training.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2514600"/>
            <a:ext cx="427939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256032" bIns="182880"/>
          <a:lstStyle/>
          <a:p>
            <a:pPr algn="ctr">
              <a:defRPr sz="1200" b="1">
                <a:solidFill>
                  <a:srgbClr val="D97706"/>
                </a:solidFill>
                <a:latin typeface="Segoe UI"/>
              </a:defRPr>
            </a:pPr>
            <a:r>
              <a:t>TEAM: [ 3Cuties ]</a:t>
            </a:r>
          </a:p>
          <a:p>
            <a:pPr>
              <a:spcBef>
                <a:spcPts val="1200"/>
              </a:spcBef>
            </a:pPr>
            <a:r>
              <a:rPr sz="1100" b="1">
                <a:solidFill>
                  <a:srgbClr val="111827"/>
                </a:solidFill>
                <a:latin typeface="Segoe UI"/>
              </a:rPr>
              <a:t>Aman Tyagi </a:t>
            </a:r>
            <a:r>
              <a:rPr sz="1000">
                <a:solidFill>
                  <a:srgbClr val="6B7280"/>
                </a:solidFill>
                <a:latin typeface="Segoe UI"/>
              </a:rPr>
              <a:t>(25BCE1710)
</a:t>
            </a:r>
            <a:r>
              <a:rPr sz="1000" b="1">
                <a:solidFill>
                  <a:srgbClr val="2563EB"/>
                </a:solidFill>
                <a:latin typeface="Segoe UI"/>
              </a:rPr>
              <a:t>AI &amp; ML Lead · </a:t>
            </a:r>
            <a:r>
              <a:rPr sz="950">
                <a:solidFill>
                  <a:srgbClr val="4B5563"/>
                </a:solidFill>
                <a:latin typeface="Segoe UI"/>
              </a:rPr>
              <a:t>Google Gemini prompt orchestration, evidence verification heuristics, schema validation &amp; scoring engines.</a:t>
            </a:r>
          </a:p>
          <a:p>
            <a:pPr>
              <a:spcBef>
                <a:spcPts val="1200"/>
              </a:spcBef>
            </a:pPr>
            <a:r>
              <a:rPr sz="1100" b="1">
                <a:solidFill>
                  <a:srgbClr val="111827"/>
                </a:solidFill>
                <a:latin typeface="Segoe UI"/>
              </a:rPr>
              <a:t>Siddhant Asati </a:t>
            </a:r>
            <a:r>
              <a:rPr sz="1000">
                <a:solidFill>
                  <a:srgbClr val="6B7280"/>
                </a:solidFill>
                <a:latin typeface="Segoe UI"/>
              </a:rPr>
              <a:t>(25BCE1633)
</a:t>
            </a:r>
            <a:r>
              <a:rPr sz="1000" b="1">
                <a:solidFill>
                  <a:srgbClr val="2563EB"/>
                </a:solidFill>
                <a:latin typeface="Segoe UI"/>
              </a:rPr>
              <a:t>Backend &amp; Systems Lead · </a:t>
            </a:r>
            <a:r>
              <a:rPr sz="950">
                <a:solidFill>
                  <a:srgbClr val="4B5563"/>
                </a:solidFill>
                <a:latin typeface="Segoe UI"/>
              </a:rPr>
              <a:t>Node/Express REST APIs, MongoDB data layer, GitHub telemetry extraction &amp; service normalization.</a:t>
            </a:r>
          </a:p>
          <a:p>
            <a:pPr>
              <a:spcBef>
                <a:spcPts val="1200"/>
              </a:spcBef>
            </a:pPr>
            <a:r>
              <a:rPr sz="1100" b="1">
                <a:solidFill>
                  <a:srgbClr val="111827"/>
                </a:solidFill>
                <a:latin typeface="Segoe UI"/>
              </a:rPr>
              <a:t>Sahaj Kumar </a:t>
            </a:r>
            <a:r>
              <a:rPr sz="1000">
                <a:solidFill>
                  <a:srgbClr val="6B7280"/>
                </a:solidFill>
                <a:latin typeface="Segoe UI"/>
              </a:rPr>
              <a:t>(25BCE1620)
</a:t>
            </a:r>
            <a:r>
              <a:rPr sz="1000" b="1">
                <a:solidFill>
                  <a:srgbClr val="2563EB"/>
                </a:solidFill>
                <a:latin typeface="Segoe UI"/>
              </a:rPr>
              <a:t>Frontend &amp; UX Lead · </a:t>
            </a:r>
            <a:r>
              <a:rPr sz="950">
                <a:solidFill>
                  <a:srgbClr val="4B5563"/>
                </a:solidFill>
                <a:latin typeface="Segoe UI"/>
              </a:rPr>
              <a:t>React 18 + Vite interactive studio, real-time readiness dials, 3D visualizers &amp; placement dashboard.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Segoe UI"/>
              </a:defRPr>
            </a:pPr>
            <a:r>
              <a:t>ProfiQ · AI-Powered Employability &amp; Career Readiness Analyzer  |  DataQuest 3.0 · Round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36576" bIns="0"/>
          <a:lstStyle/>
          <a:p>
            <a:pPr algn="ctr">
              <a:defRPr sz="900" b="1">
                <a:solidFill>
                  <a:srgbClr val="2563EB"/>
                </a:solidFill>
                <a:latin typeface="Segoe UI"/>
              </a:defRPr>
            </a:pPr>
            <a:r>
              <a:t>01 · PROBLEM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Segoe UI"/>
              </a:defRPr>
            </a:pPr>
            <a:r>
              <a:t>The Employability Disconnect: Claims vs. Proof</a:t>
            </a:r>
          </a:p>
          <a:p>
            <a:pPr>
              <a:spcBef>
                <a:spcPts val="300"/>
              </a:spcBef>
              <a:defRPr sz="1100">
                <a:solidFill>
                  <a:srgbClr val="4B5563"/>
                </a:solidFill>
                <a:latin typeface="Segoe UI"/>
              </a:defRPr>
            </a:pPr>
            <a:r>
              <a:t>Why traditional resumes, ATS keyword matchers, and unverified profiles fail modern engineering hiring.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6499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28600" bIns="182880"/>
          <a:lstStyle/>
          <a:p>
            <a:pPr algn="ctr">
              <a:defRPr sz="1100" b="1">
                <a:solidFill>
                  <a:srgbClr val="E11D48"/>
                </a:solidFill>
                <a:latin typeface="Segoe UI"/>
              </a:defRPr>
            </a:pPr>
            <a:r>
              <a:t>01 · THE STUDENT DILEMMA</a:t>
            </a:r>
          </a:p>
          <a:p>
            <a:pPr>
              <a:spcBef>
                <a:spcPts val="1200"/>
              </a:spcBef>
            </a:pPr>
            <a:r>
              <a:rPr sz="1050" b="1">
                <a:solidFill>
                  <a:srgbClr val="111827"/>
                </a:solidFill>
                <a:latin typeface="Segoe UI"/>
              </a:rPr>
              <a:t>• The Keyword Stuffing Trap: </a:t>
            </a:r>
            <a:r>
              <a:rPr sz="1000">
                <a:solidFill>
                  <a:srgbClr val="4B5563"/>
                </a:solidFill>
                <a:latin typeface="Segoe UI"/>
              </a:rPr>
              <a:t>Students list 20+ technologies on static resumes to bypass ATS filters, masking their true technical depth.</a:t>
            </a:r>
          </a:p>
          <a:p>
            <a:pPr>
              <a:spcBef>
                <a:spcPts val="1200"/>
              </a:spcBef>
            </a:pPr>
            <a:r>
              <a:rPr sz="1050" b="1">
                <a:solidFill>
                  <a:srgbClr val="111827"/>
                </a:solidFill>
                <a:latin typeface="Segoe UI"/>
              </a:rPr>
              <a:t>• Fragmented Identity: </a:t>
            </a:r>
            <a:r>
              <a:rPr sz="1000">
                <a:solidFill>
                  <a:srgbClr val="4B5563"/>
                </a:solidFill>
                <a:latin typeface="Segoe UI"/>
              </a:rPr>
              <a:t>Proof of work is scattered across GitHub, LeetCode, portfolios, and courses with zero unified evaluation.</a:t>
            </a:r>
          </a:p>
          <a:p>
            <a:pPr>
              <a:spcBef>
                <a:spcPts val="1200"/>
              </a:spcBef>
            </a:pPr>
            <a:r>
              <a:rPr sz="1050" b="1">
                <a:solidFill>
                  <a:srgbClr val="111827"/>
                </a:solidFill>
                <a:latin typeface="Segoe UI"/>
              </a:rPr>
              <a:t>• Reactive Rejections: </a:t>
            </a:r>
            <a:r>
              <a:rPr sz="1000">
                <a:solidFill>
                  <a:srgbClr val="4B5563"/>
                </a:solidFill>
                <a:latin typeface="Segoe UI"/>
              </a:rPr>
              <a:t>Students discover critical skill deficits only after failing technical placement rounds when it is too late to fix.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7" y="1645920"/>
            <a:ext cx="336499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28600" bIns="182880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02 · THE PLACEMENT BOTTLENECK</a:t>
            </a:r>
          </a:p>
          <a:p>
            <a:pPr>
              <a:spcBef>
                <a:spcPts val="1200"/>
              </a:spcBef>
            </a:pPr>
            <a:r>
              <a:rPr sz="1050" b="1">
                <a:solidFill>
                  <a:srgbClr val="111827"/>
                </a:solidFill>
                <a:latin typeface="Segoe UI"/>
              </a:rPr>
              <a:t>• Batch Review Overload: </a:t>
            </a:r>
            <a:r>
              <a:rPr sz="1000">
                <a:solidFill>
                  <a:srgbClr val="4B5563"/>
                </a:solidFill>
                <a:latin typeface="Segoe UI"/>
              </a:rPr>
              <a:t>Placement cells must evaluate 1,000+ graduating students, relying on high-level GPA rather than code readiness.</a:t>
            </a:r>
          </a:p>
          <a:p>
            <a:pPr>
              <a:spcBef>
                <a:spcPts val="1200"/>
              </a:spcBef>
            </a:pPr>
            <a:r>
              <a:rPr sz="1050" b="1">
                <a:solidFill>
                  <a:srgbClr val="111827"/>
                </a:solidFill>
                <a:latin typeface="Segoe UI"/>
              </a:rPr>
              <a:t>• Zero Cohort Telemetry: </a:t>
            </a:r>
            <a:r>
              <a:rPr sz="1000">
                <a:solidFill>
                  <a:srgbClr val="4B5563"/>
                </a:solidFill>
                <a:latin typeface="Segoe UI"/>
              </a:rPr>
              <a:t>Institutions lack aggregated data to know which frameworks or technologies students are deficient in.</a:t>
            </a:r>
          </a:p>
          <a:p>
            <a:pPr>
              <a:spcBef>
                <a:spcPts val="1200"/>
              </a:spcBef>
            </a:pPr>
            <a:r>
              <a:rPr sz="1050" b="1">
                <a:solidFill>
                  <a:srgbClr val="111827"/>
                </a:solidFill>
                <a:latin typeface="Segoe UI"/>
              </a:rPr>
              <a:t>• Mismatched Drives: </a:t>
            </a:r>
            <a:r>
              <a:rPr sz="1000">
                <a:solidFill>
                  <a:srgbClr val="4B5563"/>
                </a:solidFill>
                <a:latin typeface="Segoe UI"/>
              </a:rPr>
              <a:t>Students are routed to unsuitable hiring partners, resulting in poor placement conversion rates.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3296" y="1645920"/>
            <a:ext cx="336499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28600" bIns="182880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03 · THE RECRUITER FRICTION</a:t>
            </a:r>
          </a:p>
          <a:p>
            <a:pPr>
              <a:spcBef>
                <a:spcPts val="1200"/>
              </a:spcBef>
            </a:pPr>
            <a:r>
              <a:rPr sz="1050" b="1">
                <a:solidFill>
                  <a:srgbClr val="111827"/>
                </a:solidFill>
                <a:latin typeface="Segoe UI"/>
              </a:rPr>
              <a:t>• Low Signal-to-Noise: </a:t>
            </a:r>
            <a:r>
              <a:rPr sz="1000">
                <a:solidFill>
                  <a:srgbClr val="4B5563"/>
                </a:solidFill>
                <a:latin typeface="Segoe UI"/>
              </a:rPr>
              <a:t>70%+ of applicants with polished resumes fail basic architectural and practical coding evaluations.</a:t>
            </a:r>
          </a:p>
          <a:p>
            <a:pPr>
              <a:spcBef>
                <a:spcPts val="1200"/>
              </a:spcBef>
            </a:pPr>
            <a:r>
              <a:rPr sz="1050" b="1">
                <a:solidFill>
                  <a:srgbClr val="111827"/>
                </a:solidFill>
                <a:latin typeface="Segoe UI"/>
              </a:rPr>
              <a:t>• Manual Verification Burden: </a:t>
            </a:r>
            <a:r>
              <a:rPr sz="1000">
                <a:solidFill>
                  <a:srgbClr val="4B5563"/>
                </a:solidFill>
                <a:latin typeface="Segoe UI"/>
              </a:rPr>
              <a:t>Engineering managers spend hours auditing GitHub repos, commit histories, and code quality manually.</a:t>
            </a:r>
          </a:p>
          <a:p>
            <a:pPr>
              <a:spcBef>
                <a:spcPts val="1200"/>
              </a:spcBef>
            </a:pPr>
            <a:r>
              <a:rPr sz="1050" b="1">
                <a:solidFill>
                  <a:srgbClr val="111827"/>
                </a:solidFill>
                <a:latin typeface="Segoe UI"/>
              </a:rPr>
              <a:t>• Expensive Mis-Hires: </a:t>
            </a:r>
            <a:r>
              <a:rPr sz="1000">
                <a:solidFill>
                  <a:srgbClr val="4B5563"/>
                </a:solidFill>
                <a:latin typeface="Segoe UI"/>
              </a:rPr>
              <a:t>Relying on self-reported resume claims creates inflated interview funnels and high recruitment rework.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96128"/>
            <a:ext cx="10728655" cy="7498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109728" bIns="91440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THE ROOT CAUSE: "A resume is an unverified claim. A GitHub repository is raw data."</a:t>
            </a:r>
          </a:p>
          <a:p>
            <a:pPr>
              <a:spcBef>
                <a:spcPts val="300"/>
              </a:spcBef>
              <a:defRPr sz="950">
                <a:solidFill>
                  <a:srgbClr val="4B5563"/>
                </a:solidFill>
                <a:latin typeface="Segoe UI"/>
              </a:defRPr>
            </a:pPr>
            <a:r>
              <a:t>No existing platform automatically cross-references self-reported skills against demonstrable code proof to generate an explainable, benchmarked readiness score with actionable remediation.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Segoe UI"/>
              </a:defRPr>
            </a:pPr>
            <a:r>
              <a:t>ProfiQ · AI-Powered Employability &amp; Career Readiness Analyzer  |  DataQuest 3.0 · Round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36576" bIns="0"/>
          <a:lstStyle/>
          <a:p>
            <a:pPr algn="ctr">
              <a:defRPr sz="900" b="1">
                <a:solidFill>
                  <a:srgbClr val="2563EB"/>
                </a:solidFill>
                <a:latin typeface="Segoe UI"/>
              </a:defRPr>
            </a:pPr>
            <a:r>
              <a:t>02 ·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Segoe UI"/>
              </a:defRPr>
            </a:pPr>
            <a:r>
              <a:t>ProfiQ: Evidence-Based Employability Intelligence</a:t>
            </a:r>
          </a:p>
          <a:p>
            <a:pPr>
              <a:spcBef>
                <a:spcPts val="300"/>
              </a:spcBef>
              <a:defRPr sz="1100">
                <a:solidFill>
                  <a:srgbClr val="4B5563"/>
                </a:solidFill>
                <a:latin typeface="Segoe UI"/>
              </a:defRPr>
            </a:pPr>
            <a:r>
              <a:t>An end-to-end AI verification engine that converts raw developer claims into verifiable career readiness.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64992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01168" bIns="137160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1. INGEST &amp; AGGREGATE</a:t>
            </a:r>
          </a:p>
          <a:p>
            <a:pPr>
              <a:spcBef>
                <a:spcPts val="1000"/>
              </a:spcBef>
            </a:pPr>
            <a:r>
              <a:rPr sz="1000" b="1">
                <a:solidFill>
                  <a:srgbClr val="111827"/>
                </a:solidFill>
                <a:latin typeface="Segoe UI"/>
              </a:rPr>
              <a:t>• Resume Ingestion: </a:t>
            </a:r>
            <a:r>
              <a:rPr sz="950">
                <a:solidFill>
                  <a:srgbClr val="4B5563"/>
                </a:solidFill>
                <a:latin typeface="Segoe UI"/>
              </a:rPr>
              <a:t>PDF parsing extracts candidate bio, education, claimed skills, and projects.</a:t>
            </a:r>
          </a:p>
          <a:p>
            <a:pPr>
              <a:spcBef>
                <a:spcPts val="1000"/>
              </a:spcBef>
            </a:pPr>
            <a:r>
              <a:rPr sz="1000" b="1">
                <a:solidFill>
                  <a:srgbClr val="111827"/>
                </a:solidFill>
                <a:latin typeface="Segoe UI"/>
              </a:rPr>
              <a:t>• Developer Telemetry: </a:t>
            </a:r>
            <a:r>
              <a:rPr sz="950">
                <a:solidFill>
                  <a:srgbClr val="4B5563"/>
                </a:solidFill>
                <a:latin typeface="Segoe UI"/>
              </a:rPr>
              <a:t>Fetches live GitHub repositories, language distributions, and commit frequency.</a:t>
            </a:r>
          </a:p>
          <a:p>
            <a:pPr>
              <a:spcBef>
                <a:spcPts val="1000"/>
              </a:spcBef>
            </a:pPr>
            <a:r>
              <a:rPr sz="1000" b="1">
                <a:solidFill>
                  <a:srgbClr val="111827"/>
                </a:solidFill>
                <a:latin typeface="Segoe UI"/>
              </a:rPr>
              <a:t>• Target Role Benchmark: </a:t>
            </a:r>
            <a:r>
              <a:rPr sz="950">
                <a:solidFill>
                  <a:srgbClr val="4B5563"/>
                </a:solidFill>
                <a:latin typeface="Segoe UI"/>
              </a:rPr>
              <a:t>Candidate selects intended role (e.g., Frontend Engineer, Full Stack, ML Engineer).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7" y="1645920"/>
            <a:ext cx="3364992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01168" bIns="137160"/>
          <a:lstStyle/>
          <a:p>
            <a:pPr algn="ctr">
              <a:defRPr sz="1100" b="1">
                <a:solidFill>
                  <a:srgbClr val="E11D48"/>
                </a:solidFill>
                <a:latin typeface="Segoe UI"/>
              </a:defRPr>
            </a:pPr>
            <a:r>
              <a:t>2. AI VERIFY &amp; BENCHMARK</a:t>
            </a:r>
          </a:p>
          <a:p>
            <a:pPr>
              <a:spcBef>
                <a:spcPts val="1000"/>
              </a:spcBef>
            </a:pPr>
            <a:r>
              <a:rPr sz="1000" b="1">
                <a:solidFill>
                  <a:srgbClr val="111827"/>
                </a:solidFill>
                <a:latin typeface="Segoe UI"/>
              </a:rPr>
              <a:t>• Artifact Cross-Check: </a:t>
            </a:r>
            <a:r>
              <a:rPr sz="950">
                <a:solidFill>
                  <a:srgbClr val="4B5563"/>
                </a:solidFill>
                <a:latin typeface="Segoe UI"/>
              </a:rPr>
              <a:t>Google Gemini cross-references claimed skills against actual repo code &amp; dependencies.</a:t>
            </a:r>
          </a:p>
          <a:p>
            <a:pPr>
              <a:spcBef>
                <a:spcPts val="1000"/>
              </a:spcBef>
            </a:pPr>
            <a:r>
              <a:rPr sz="1000" b="1">
                <a:solidFill>
                  <a:srgbClr val="111827"/>
                </a:solidFill>
                <a:latin typeface="Segoe UI"/>
              </a:rPr>
              <a:t>• Confidence Scoring: </a:t>
            </a:r>
            <a:r>
              <a:rPr sz="950">
                <a:solidFill>
                  <a:srgbClr val="4B5563"/>
                </a:solidFill>
                <a:latin typeface="Segoe UI"/>
              </a:rPr>
              <a:t>Separates verified proof from unbacked claims using deterministic heuristics.</a:t>
            </a:r>
          </a:p>
          <a:p>
            <a:pPr>
              <a:spcBef>
                <a:spcPts val="1000"/>
              </a:spcBef>
            </a:pPr>
            <a:r>
              <a:rPr sz="1000" b="1">
                <a:solidFill>
                  <a:srgbClr val="111827"/>
                </a:solidFill>
                <a:latin typeface="Segoe UI"/>
              </a:rPr>
              <a:t>• Role Matrix Comparison: </a:t>
            </a:r>
            <a:r>
              <a:rPr sz="950">
                <a:solidFill>
                  <a:srgbClr val="4B5563"/>
                </a:solidFill>
                <a:latin typeface="Segoe UI"/>
              </a:rPr>
              <a:t>Evaluates depth against standardized critical, recommended, and optional skills.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3296" y="1645920"/>
            <a:ext cx="3364992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01168" bIns="137160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3. QUANTIFY &amp; REMEDIATE</a:t>
            </a:r>
          </a:p>
          <a:p>
            <a:pPr>
              <a:spcBef>
                <a:spcPts val="1000"/>
              </a:spcBef>
            </a:pPr>
            <a:r>
              <a:rPr sz="1000" b="1">
                <a:solidFill>
                  <a:srgbClr val="111827"/>
                </a:solidFill>
                <a:latin typeface="Segoe UI"/>
              </a:rPr>
              <a:t>• Readiness Score (0-100): </a:t>
            </a:r>
            <a:r>
              <a:rPr sz="950">
                <a:solidFill>
                  <a:srgbClr val="4B5563"/>
                </a:solidFill>
                <a:latin typeface="Segoe UI"/>
              </a:rPr>
              <a:t>Transparent, explainable score combining skill fit (60%) and proof depth (40%).</a:t>
            </a:r>
          </a:p>
          <a:p>
            <a:pPr>
              <a:spcBef>
                <a:spcPts val="1000"/>
              </a:spcBef>
            </a:pPr>
            <a:r>
              <a:rPr sz="1000" b="1">
                <a:solidFill>
                  <a:srgbClr val="111827"/>
                </a:solidFill>
                <a:latin typeface="Segoe UI"/>
              </a:rPr>
              <a:t>• Gap Identification: </a:t>
            </a:r>
            <a:r>
              <a:rPr sz="950">
                <a:solidFill>
                  <a:srgbClr val="4B5563"/>
                </a:solidFill>
                <a:latin typeface="Segoe UI"/>
              </a:rPr>
              <a:t>Pinpoints exact missing technical dependencies required for target roles.</a:t>
            </a:r>
          </a:p>
          <a:p>
            <a:pPr>
              <a:spcBef>
                <a:spcPts val="1000"/>
              </a:spcBef>
            </a:pPr>
            <a:r>
              <a:rPr sz="1000" b="1">
                <a:solidFill>
                  <a:srgbClr val="111827"/>
                </a:solidFill>
                <a:latin typeface="Segoe UI"/>
              </a:rPr>
              <a:t>• Milestone Roadmap: </a:t>
            </a:r>
            <a:r>
              <a:rPr sz="950">
                <a:solidFill>
                  <a:srgbClr val="4B5563"/>
                </a:solidFill>
                <a:latin typeface="Segoe UI"/>
              </a:rPr>
              <a:t>Generates structured 4-week learning sprints with curated project objectives.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19472"/>
            <a:ext cx="523036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16459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WHY IT IS BETTER: EVIDENCE OVER KEYWORDS</a:t>
            </a:r>
          </a:p>
          <a:p>
            <a:pPr>
              <a:spcBef>
                <a:spcPts val="400"/>
              </a:spcBef>
              <a:defRPr sz="950">
                <a:solidFill>
                  <a:srgbClr val="4B5563"/>
                </a:solidFill>
                <a:latin typeface="Segoe UI"/>
              </a:defRPr>
            </a:pPr>
            <a:r>
              <a:t>Unlike traditional ATS checkers that only perform shallow string matching, ProfiQ establishes ground truth by inspecting actual repository commits, code architecture, and package manifests to verify whether a candidate can genuinely execute.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919472"/>
            <a:ext cx="523036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164592"/>
          <a:lstStyle/>
          <a:p>
            <a:pPr algn="ctr">
              <a:defRPr sz="1100" b="1">
                <a:solidFill>
                  <a:srgbClr val="E11D48"/>
                </a:solidFill>
                <a:latin typeface="Segoe UI"/>
              </a:defRPr>
            </a:pPr>
            <a:r>
              <a:t>THE INNOVATION: ACTIONABLE CAREER REMEDIATION</a:t>
            </a:r>
          </a:p>
          <a:p>
            <a:pPr>
              <a:spcBef>
                <a:spcPts val="400"/>
              </a:spcBef>
              <a:defRPr sz="950">
                <a:solidFill>
                  <a:srgbClr val="4B5563"/>
                </a:solidFill>
                <a:latin typeface="Segoe UI"/>
              </a:defRPr>
            </a:pPr>
            <a:r>
              <a:t>ProfiQ transforms evaluation from a passive 'judgment' into an active developmental roadmap. Students receive transparent explanations for every deducted point and a prescriptive milestone plan to turn red skill deficits into verified green badges.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Segoe UI"/>
              </a:defRPr>
            </a:pPr>
            <a:r>
              <a:t>ProfiQ · AI-Powered Employability &amp; Career Readiness Analyzer  |  DataQuest 3.0 · Round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36576" bIns="0"/>
          <a:lstStyle/>
          <a:p>
            <a:pPr algn="ctr">
              <a:defRPr sz="900" b="1">
                <a:solidFill>
                  <a:srgbClr val="2563EB"/>
                </a:solidFill>
                <a:latin typeface="Segoe UI"/>
              </a:defRPr>
            </a:pPr>
            <a:r>
              <a:t>03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Segoe UI"/>
              </a:defRPr>
            </a:pPr>
            <a:r>
              <a:t>Modular Multi-Tiered System Architecture</a:t>
            </a:r>
          </a:p>
          <a:p>
            <a:pPr>
              <a:spcBef>
                <a:spcPts val="300"/>
              </a:spcBef>
              <a:defRPr sz="1100">
                <a:solidFill>
                  <a:srgbClr val="4B5563"/>
                </a:solidFill>
                <a:latin typeface="Segoe UI"/>
              </a:defRPr>
            </a:pPr>
            <a:r>
              <a:t>Engineered for high-throughput profile ingestion, robust telemetry extraction, and deterministic AI scoring.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23744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37160"/>
          <a:lstStyle/>
          <a:p>
            <a:pPr algn="ctr">
              <a:defRPr sz="1050" b="1">
                <a:solidFill>
                  <a:srgbClr val="2563EB"/>
                </a:solidFill>
                <a:latin typeface="Segoe UI"/>
              </a:defRPr>
            </a:pPr>
            <a:r>
              <a:t>CLIENT TIER</a:t>
            </a:r>
          </a:p>
          <a:p>
            <a:pPr>
              <a:spcBef>
                <a:spcPts val="200"/>
              </a:spcBef>
              <a:defRPr sz="900" b="1">
                <a:solidFill>
                  <a:srgbClr val="6B7280"/>
                </a:solidFill>
                <a:latin typeface="Segoe UI"/>
              </a:defRPr>
            </a:pPr>
            <a:r>
              <a:t>React 18 + Vite</a:t>
            </a:r>
          </a:p>
          <a:p>
            <a:pPr>
              <a:spcBef>
                <a:spcPts val="90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• Candidate Studio: </a:t>
            </a:r>
            <a:r>
              <a:rPr sz="900">
                <a:solidFill>
                  <a:srgbClr val="4B5563"/>
                </a:solidFill>
                <a:latin typeface="Segoe UI"/>
              </a:rPr>
              <a:t>Interactive profile upload, role target picker, and live readiness dials.</a:t>
            </a:r>
          </a:p>
          <a:p>
            <a:pPr>
              <a:spcBef>
                <a:spcPts val="90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• Visual Telemetry: </a:t>
            </a:r>
            <a:r>
              <a:rPr sz="900">
                <a:solidFill>
                  <a:srgbClr val="4B5563"/>
                </a:solidFill>
                <a:latin typeface="Segoe UI"/>
              </a:rPr>
              <a:t>Radar charts, verified vs. unbacked skill matrices, and 3D score dials.</a:t>
            </a:r>
          </a:p>
          <a:p>
            <a:pPr>
              <a:spcBef>
                <a:spcPts val="90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• Placement Portal: </a:t>
            </a:r>
            <a:r>
              <a:rPr sz="900">
                <a:solidFill>
                  <a:srgbClr val="4B5563"/>
                </a:solidFill>
                <a:latin typeface="Segoe UI"/>
              </a:rPr>
              <a:t>Cohort-wide analytics, distribution heatmaps, and batch filter tables.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65576" y="1645920"/>
            <a:ext cx="2523744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37160"/>
          <a:lstStyle/>
          <a:p>
            <a:pPr algn="ctr">
              <a:defRPr sz="1050" b="1">
                <a:solidFill>
                  <a:srgbClr val="10B981"/>
                </a:solidFill>
                <a:latin typeface="Segoe UI"/>
              </a:defRPr>
            </a:pPr>
            <a:r>
              <a:t>BACKEND API TIER</a:t>
            </a:r>
          </a:p>
          <a:p>
            <a:pPr>
              <a:spcBef>
                <a:spcPts val="200"/>
              </a:spcBef>
              <a:defRPr sz="900" b="1">
                <a:solidFill>
                  <a:srgbClr val="6B7280"/>
                </a:solidFill>
                <a:latin typeface="Segoe UI"/>
              </a:defRPr>
            </a:pPr>
            <a:r>
              <a:t>Node.js + Express</a:t>
            </a:r>
          </a:p>
          <a:p>
            <a:pPr>
              <a:spcBef>
                <a:spcPts val="90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• Ingestion Engine: </a:t>
            </a:r>
            <a:r>
              <a:rPr sz="900">
                <a:solidFill>
                  <a:srgbClr val="4B5563"/>
                </a:solidFill>
                <a:latin typeface="Segoe UI"/>
              </a:rPr>
              <a:t>PDF parsing &amp; multipart form handling for resumes and profile links.</a:t>
            </a:r>
          </a:p>
          <a:p>
            <a:pPr>
              <a:spcBef>
                <a:spcPts val="90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• Telemetry Service: </a:t>
            </a:r>
            <a:r>
              <a:rPr sz="900">
                <a:solidFill>
                  <a:srgbClr val="4B5563"/>
                </a:solidFill>
                <a:latin typeface="Segoe UI"/>
              </a:rPr>
              <a:t>GitHub REST API connector extracting repo stats, languages, and commit histories.</a:t>
            </a:r>
          </a:p>
          <a:p>
            <a:pPr>
              <a:spcBef>
                <a:spcPts val="90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• Orchestrator: </a:t>
            </a:r>
            <a:r>
              <a:rPr sz="900">
                <a:solidFill>
                  <a:srgbClr val="4B5563"/>
                </a:solidFill>
                <a:latin typeface="Segoe UI"/>
              </a:rPr>
              <a:t>Normalizes candidate profiles and manages asynchronous AI inference pipelines.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645920"/>
            <a:ext cx="2523744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37160"/>
          <a:lstStyle/>
          <a:p>
            <a:pPr algn="ctr">
              <a:defRPr sz="1050" b="1">
                <a:solidFill>
                  <a:srgbClr val="E11D48"/>
                </a:solidFill>
                <a:latin typeface="Segoe UI"/>
              </a:defRPr>
            </a:pPr>
            <a:r>
              <a:t>INTELLIGENCE TIER</a:t>
            </a:r>
          </a:p>
          <a:p>
            <a:pPr>
              <a:spcBef>
                <a:spcPts val="200"/>
              </a:spcBef>
              <a:defRPr sz="900" b="1">
                <a:solidFill>
                  <a:srgbClr val="6B7280"/>
                </a:solidFill>
                <a:latin typeface="Segoe UI"/>
              </a:defRPr>
            </a:pPr>
            <a:r>
              <a:t>Google Gemini + Engine</a:t>
            </a:r>
          </a:p>
          <a:p>
            <a:pPr>
              <a:spcBef>
                <a:spcPts val="90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• Skill Extraction: </a:t>
            </a:r>
            <a:r>
              <a:rPr sz="900">
                <a:solidFill>
                  <a:srgbClr val="4B5563"/>
                </a:solidFill>
                <a:latin typeface="Segoe UI"/>
              </a:rPr>
              <a:t>Structured NER identifying explicit and implicit technical proficiencies.</a:t>
            </a:r>
          </a:p>
          <a:p>
            <a:pPr>
              <a:spcBef>
                <a:spcPts val="90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• Artifact Verifier: </a:t>
            </a:r>
            <a:r>
              <a:rPr sz="900">
                <a:solidFill>
                  <a:srgbClr val="4B5563"/>
                </a:solidFill>
                <a:latin typeface="Segoe UI"/>
              </a:rPr>
              <a:t>Heuristics and LLM semantic cross-check matching code against claims.</a:t>
            </a:r>
          </a:p>
          <a:p>
            <a:pPr>
              <a:spcBef>
                <a:spcPts val="90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• Scoring &amp; Roadmap: </a:t>
            </a:r>
            <a:r>
              <a:rPr sz="900">
                <a:solidFill>
                  <a:srgbClr val="4B5563"/>
                </a:solidFill>
                <a:latin typeface="Segoe UI"/>
              </a:rPr>
              <a:t>Deterministic mathematical scoring and personalized 4-week sprint generator.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33688" y="1645920"/>
            <a:ext cx="2523744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37160"/>
          <a:lstStyle/>
          <a:p>
            <a:pPr algn="ctr">
              <a:defRPr sz="1050" b="1">
                <a:solidFill>
                  <a:srgbClr val="D97706"/>
                </a:solidFill>
                <a:latin typeface="Segoe UI"/>
              </a:defRPr>
            </a:pPr>
            <a:r>
              <a:t>PERSISTENCE TIER</a:t>
            </a:r>
          </a:p>
          <a:p>
            <a:pPr>
              <a:spcBef>
                <a:spcPts val="200"/>
              </a:spcBef>
              <a:defRPr sz="900" b="1">
                <a:solidFill>
                  <a:srgbClr val="6B7280"/>
                </a:solidFill>
                <a:latin typeface="Segoe UI"/>
              </a:defRPr>
            </a:pPr>
            <a:r>
              <a:t>MongoDB + Schemas</a:t>
            </a:r>
          </a:p>
          <a:p>
            <a:pPr>
              <a:spcBef>
                <a:spcPts val="90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• Unified Profiles: </a:t>
            </a:r>
            <a:r>
              <a:rPr sz="900">
                <a:solidFill>
                  <a:srgbClr val="4B5563"/>
                </a:solidFill>
                <a:latin typeface="Segoe UI"/>
              </a:rPr>
              <a:t>Stores normalized candidate claims, verified artifacts, and telemetry.</a:t>
            </a:r>
          </a:p>
          <a:p>
            <a:pPr>
              <a:spcBef>
                <a:spcPts val="90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• Role Benchmarks: </a:t>
            </a:r>
            <a:r>
              <a:rPr sz="900">
                <a:solidFill>
                  <a:srgbClr val="4B5563"/>
                </a:solidFill>
                <a:latin typeface="Segoe UI"/>
              </a:rPr>
              <a:t>Taxonomies mapping Critical, Recommended, and Optional skills across roles.</a:t>
            </a:r>
          </a:p>
          <a:p>
            <a:pPr>
              <a:spcBef>
                <a:spcPts val="90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• Roadmaps &amp; Reports: </a:t>
            </a:r>
            <a:r>
              <a:rPr sz="900">
                <a:solidFill>
                  <a:srgbClr val="4B5563"/>
                </a:solidFill>
                <a:latin typeface="Segoe UI"/>
              </a:rPr>
              <a:t>Historical tracking of readiness progress over academic semesters.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38928"/>
            <a:ext cx="336499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KEY TECHNICAL DECISION</a:t>
            </a:r>
          </a:p>
          <a:p>
            <a:pPr>
              <a:spcBef>
                <a:spcPts val="300"/>
              </a:spcBef>
              <a:defRPr sz="900">
                <a:solidFill>
                  <a:srgbClr val="4B5563"/>
                </a:solidFill>
                <a:latin typeface="Segoe UI"/>
              </a:defRPr>
            </a:pPr>
            <a:r>
              <a:t>Modular Separation: Independent client, backend orchestrator, and AI pipelines allow replacing or upgrading LLM models without altering database or UI schemas.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7" y="5138928"/>
            <a:ext cx="336499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/>
          <a:lstStyle/>
          <a:p>
            <a:pPr algn="ctr">
              <a:defRPr sz="1000" b="1">
                <a:solidFill>
                  <a:srgbClr val="E11D48"/>
                </a:solidFill>
                <a:latin typeface="Segoe UI"/>
              </a:defRPr>
            </a:pPr>
            <a:r>
              <a:t>HARDEST PROBLEM SOLVED</a:t>
            </a:r>
          </a:p>
          <a:p>
            <a:pPr>
              <a:spcBef>
                <a:spcPts val="300"/>
              </a:spcBef>
              <a:defRPr sz="900">
                <a:solidFill>
                  <a:srgbClr val="4B5563"/>
                </a:solidFill>
                <a:latin typeface="Segoe UI"/>
              </a:defRPr>
            </a:pPr>
            <a:r>
              <a:t>Evidence Attribution: Connecting unstructured resume claims with commit histories and repositories via semantic matching and deterministic heuristics.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5138928"/>
            <a:ext cx="336499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VALIDATION &amp; STABILITY</a:t>
            </a:r>
          </a:p>
          <a:p>
            <a:pPr>
              <a:spcBef>
                <a:spcPts val="300"/>
              </a:spcBef>
              <a:defRPr sz="900">
                <a:solidFill>
                  <a:srgbClr val="4B5563"/>
                </a:solidFill>
                <a:latin typeface="Segoe UI"/>
              </a:defRPr>
            </a:pPr>
            <a:r>
              <a:t>Strict JSON Schemas: Gemini structured output constraints prevent AI hallucinations, ensuring reproducible scores and robust API contracts.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Segoe UI"/>
              </a:defRPr>
            </a:pPr>
            <a:r>
              <a:t>ProfiQ · AI-Powered Employability &amp; Career Readiness Analyzer  |  DataQuest 3.0 · Round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36576" bIns="0"/>
          <a:lstStyle/>
          <a:p>
            <a:pPr algn="ctr">
              <a:defRPr sz="900" b="1">
                <a:solidFill>
                  <a:srgbClr val="2563EB"/>
                </a:solidFill>
                <a:latin typeface="Segoe UI"/>
              </a:defRPr>
            </a:pPr>
            <a:r>
              <a:t>04 · EVALUATION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Segoe UI"/>
              </a:defRPr>
            </a:pPr>
            <a:r>
              <a:t>Evidence-Based Mathematical Scoring Methodology</a:t>
            </a:r>
          </a:p>
          <a:p>
            <a:pPr>
              <a:spcBef>
                <a:spcPts val="300"/>
              </a:spcBef>
              <a:defRPr sz="1100">
                <a:solidFill>
                  <a:srgbClr val="4B5563"/>
                </a:solidFill>
                <a:latin typeface="Segoe UI"/>
              </a:defRPr>
            </a:pPr>
            <a:r>
              <a:t>A transparent, explainable formula that rewards verified engineering competence and penalizes unbacked claims.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 tIns="164592"/>
          <a:lstStyle/>
          <a:p>
            <a:pPr algn="ctr">
              <a:defRPr sz="1600" b="1">
                <a:solidFill>
                  <a:srgbClr val="2563EB"/>
                </a:solidFill>
                <a:latin typeface="Segoe UI"/>
              </a:defRPr>
            </a:pPr>
            <a:r>
              <a:t>CORE FORMULA:   Readiness Score (R) = (S × 0.60) + (E × 0.40)</a:t>
            </a:r>
          </a:p>
          <a:p>
            <a:pPr>
              <a:spcBef>
                <a:spcPts val="400"/>
              </a:spcBef>
              <a:defRPr sz="1050">
                <a:solidFill>
                  <a:srgbClr val="4B5563"/>
                </a:solidFill>
                <a:latin typeface="Segoe UI"/>
              </a:defRPr>
            </a:pPr>
            <a:r>
              <a:t>Where:  S = Skill Match Score (0–100) based on industry role benchmarks  |  E = Evidence Verification Score (0–100) based on code proof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5230368" cy="3401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19456"/>
          <a:lstStyle/>
          <a:p>
            <a:pPr algn="ctr">
              <a:defRPr sz="1150" b="1">
                <a:solidFill>
                  <a:srgbClr val="2563EB"/>
                </a:solidFill>
                <a:latin typeface="Segoe UI"/>
              </a:defRPr>
            </a:pPr>
            <a:r>
              <a:t>1. SKILL MATCH SCORE (S · 60% WEIGHT)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11827"/>
                </a:solidFill>
                <a:latin typeface="Segoe UI"/>
              </a:rPr>
              <a:t>Hierarchical Role Weights: </a:t>
            </a:r>
            <a:r>
              <a:rPr sz="950">
                <a:solidFill>
                  <a:srgbClr val="4B5563"/>
                </a:solidFill>
                <a:latin typeface="Segoe UI"/>
              </a:rPr>
              <a:t>Evaluates skills against curated industry matrices according to role criticality: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11827"/>
                </a:solidFill>
                <a:latin typeface="Segoe UI"/>
              </a:rPr>
              <a:t>• Critical Skills (1.0× Weight): </a:t>
            </a:r>
            <a:r>
              <a:rPr sz="950">
                <a:solidFill>
                  <a:srgbClr val="4B5563"/>
                </a:solidFill>
                <a:latin typeface="Segoe UI"/>
              </a:rPr>
              <a:t>Foundational technologies without which the candidate cannot operate (e.g., React &amp; JavaScript for Frontend).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11827"/>
                </a:solidFill>
                <a:latin typeface="Segoe UI"/>
              </a:rPr>
              <a:t>• Recommended Skills (0.7× Weight): </a:t>
            </a:r>
            <a:r>
              <a:rPr sz="950">
                <a:solidFill>
                  <a:srgbClr val="4B5563"/>
                </a:solidFill>
                <a:latin typeface="Segoe UI"/>
              </a:rPr>
              <a:t>Modern tooling and best practices that elevate technical output (e.g., TypeScript, Tailwind, REST APIs).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11827"/>
                </a:solidFill>
                <a:latin typeface="Segoe UI"/>
              </a:rPr>
              <a:t>• Optional Skills (0.4× Weight): </a:t>
            </a:r>
            <a:r>
              <a:rPr sz="950">
                <a:solidFill>
                  <a:srgbClr val="4B5563"/>
                </a:solidFill>
                <a:latin typeface="Segoe UI"/>
              </a:rPr>
              <a:t>Value-add complementary proficiencies (e.g., Docker, GraphQL, Jest).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11827"/>
                </a:solidFill>
                <a:latin typeface="Segoe UI"/>
              </a:rPr>
              <a:t>Dynamic Breadth &amp; Depth: </a:t>
            </a:r>
            <a:r>
              <a:rPr sz="950">
                <a:solidFill>
                  <a:srgbClr val="4B5563"/>
                </a:solidFill>
                <a:latin typeface="Segoe UI"/>
              </a:rPr>
              <a:t>Calculates coverage ratio across core domains rather than simple keyword counting.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926080"/>
            <a:ext cx="5230368" cy="3401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19456"/>
          <a:lstStyle/>
          <a:p>
            <a:pPr algn="ctr">
              <a:defRPr sz="1150" b="1">
                <a:solidFill>
                  <a:srgbClr val="E11D48"/>
                </a:solidFill>
                <a:latin typeface="Segoe UI"/>
              </a:defRPr>
            </a:pPr>
            <a:r>
              <a:t>2. EVIDENCE VERIFICATION SCORE (E · 40% WEIGHT)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11827"/>
                </a:solidFill>
                <a:latin typeface="Segoe UI"/>
              </a:rPr>
              <a:t>Evidence Confidence Hierarchy: </a:t>
            </a:r>
            <a:r>
              <a:rPr sz="950">
                <a:solidFill>
                  <a:srgbClr val="4B5563"/>
                </a:solidFill>
                <a:latin typeface="Segoe UI"/>
              </a:rPr>
              <a:t>Each claimed skill is assigned an evidence tier backed by observable data: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11827"/>
                </a:solidFill>
                <a:latin typeface="Segoe UI"/>
              </a:rPr>
              <a:t>• High Confidence (0.85 – 1.0): </a:t>
            </a:r>
            <a:r>
              <a:rPr sz="950">
                <a:solidFill>
                  <a:srgbClr val="4B5563"/>
                </a:solidFill>
                <a:latin typeface="Segoe UI"/>
              </a:rPr>
              <a:t>Public repository with verified commits, active commit velocity, and matching codebase.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11827"/>
                </a:solidFill>
                <a:latin typeface="Segoe UI"/>
              </a:rPr>
              <a:t>• Moderate Confidence (0.50 – 0.70): </a:t>
            </a:r>
            <a:r>
              <a:rPr sz="950">
                <a:solidFill>
                  <a:srgbClr val="4B5563"/>
                </a:solidFill>
                <a:latin typeface="Segoe UI"/>
              </a:rPr>
              <a:t>Listed academic project, course certification, or live portfolio demo URL.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11827"/>
                </a:solidFill>
                <a:latin typeface="Segoe UI"/>
              </a:rPr>
              <a:t>• Low / Unbacked (0.10 – 0.30): </a:t>
            </a:r>
            <a:r>
              <a:rPr sz="950">
                <a:solidFill>
                  <a:srgbClr val="4B5563"/>
                </a:solidFill>
                <a:latin typeface="Segoe UI"/>
              </a:rPr>
              <a:t>Resume keyword claim with zero observable codebase proof or commit history.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11827"/>
                </a:solidFill>
                <a:latin typeface="Segoe UI"/>
              </a:rPr>
              <a:t>Penalty Mechanism: </a:t>
            </a:r>
            <a:r>
              <a:rPr sz="950">
                <a:solidFill>
                  <a:srgbClr val="4B5563"/>
                </a:solidFill>
                <a:latin typeface="Segoe UI"/>
              </a:rPr>
              <a:t>Unbacked claims dilute the overall readiness score, directly discouraging resume exaggeration.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Segoe UI"/>
              </a:defRPr>
            </a:pPr>
            <a:r>
              <a:t>ProfiQ · AI-Powered Employability &amp; Career Readiness Analyzer  |  DataQuest 3.0 · Round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36576" bIns="0"/>
          <a:lstStyle/>
          <a:p>
            <a:pPr algn="ctr">
              <a:defRPr sz="900" b="1">
                <a:solidFill>
                  <a:srgbClr val="2563EB"/>
                </a:solidFill>
                <a:latin typeface="Segoe UI"/>
              </a:defRPr>
            </a:pPr>
            <a:r>
              <a:t>05 · PRODUCT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Segoe UI"/>
              </a:defRPr>
            </a:pPr>
            <a:r>
              <a:t>Dual-Perspective Platform: Students &amp; Placement Cells</a:t>
            </a:r>
          </a:p>
          <a:p>
            <a:pPr>
              <a:spcBef>
                <a:spcPts val="300"/>
              </a:spcBef>
              <a:defRPr sz="1100">
                <a:solidFill>
                  <a:srgbClr val="4B5563"/>
                </a:solidFill>
                <a:latin typeface="Segoe UI"/>
              </a:defRPr>
            </a:pPr>
            <a:r>
              <a:t>Delivering immediate diagnostic value for candidate growth and powerful cohort analytics for university administrators.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3036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01168" bIns="137160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CANDIDATE STUDIO: READINESS DIAL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11827"/>
                </a:solidFill>
                <a:latin typeface="Segoe UI"/>
              </a:rPr>
              <a:t>• Composite Readiness Score: </a:t>
            </a:r>
            <a:r>
              <a:rPr sz="950">
                <a:solidFill>
                  <a:srgbClr val="4B5563"/>
                </a:solidFill>
                <a:latin typeface="Segoe UI"/>
              </a:rPr>
              <a:t>High-impact visual score dial reflecting current employability level (0–100).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11827"/>
                </a:solidFill>
                <a:latin typeface="Segoe UI"/>
              </a:rPr>
              <a:t>• Domain Radar Breakdown: </a:t>
            </a:r>
            <a:r>
              <a:rPr sz="950">
                <a:solidFill>
                  <a:srgbClr val="4B5563"/>
                </a:solidFill>
                <a:latin typeface="Segoe UI"/>
              </a:rPr>
              <a:t>Visualizes candidate strength across Core Languages, Frameworks, Architecture, and Tooling.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11827"/>
                </a:solidFill>
                <a:latin typeface="Segoe UI"/>
              </a:rPr>
              <a:t>• Target Benchmark Threshold: </a:t>
            </a:r>
            <a:r>
              <a:rPr sz="950">
                <a:solidFill>
                  <a:srgbClr val="4B5563"/>
                </a:solidFill>
                <a:latin typeface="Segoe UI"/>
              </a:rPr>
              <a:t>Clear indicators showing whether the candidate meets Junior, Mid, or Senior entry bars.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3036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01168" bIns="137160"/>
          <a:lstStyle/>
          <a:p>
            <a:pPr algn="ctr">
              <a:defRPr sz="1100" b="1">
                <a:solidFill>
                  <a:srgbClr val="E11D48"/>
                </a:solidFill>
                <a:latin typeface="Segoe UI"/>
              </a:defRPr>
            </a:pPr>
            <a:r>
              <a:t>EVIDENCE MATRIX &amp; GAP VISUALIZER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11827"/>
                </a:solidFill>
                <a:latin typeface="Segoe UI"/>
              </a:rPr>
              <a:t>• Verified vs. Unbacked Claims: </a:t>
            </a:r>
            <a:r>
              <a:rPr sz="950">
                <a:solidFill>
                  <a:srgbClr val="4B5563"/>
                </a:solidFill>
                <a:latin typeface="Segoe UI"/>
              </a:rPr>
              <a:t>Displays an 80%+ evidence coverage target, clearly tagging proof sources.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11827"/>
                </a:solidFill>
                <a:latin typeface="Segoe UI"/>
              </a:rPr>
              <a:t>• Critical Skill Deficits: </a:t>
            </a:r>
            <a:r>
              <a:rPr sz="950">
                <a:solidFill>
                  <a:srgbClr val="4B5563"/>
                </a:solidFill>
                <a:latin typeface="Segoe UI"/>
              </a:rPr>
              <a:t>Flags essential role requirements that are missing from candidate profiles.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11827"/>
                </a:solidFill>
                <a:latin typeface="Segoe UI"/>
              </a:rPr>
              <a:t>• Interactive Inspect Mode: </a:t>
            </a:r>
            <a:r>
              <a:rPr sz="950">
                <a:solidFill>
                  <a:srgbClr val="4B5563"/>
                </a:solidFill>
                <a:latin typeface="Segoe UI"/>
              </a:rPr>
              <a:t>Allows candidates to see exactly which GitHub repos validated each skill.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69080"/>
            <a:ext cx="523036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01168" bIns="137160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PERSONALIZED MILESTONE ROADMAP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11827"/>
                </a:solidFill>
                <a:latin typeface="Segoe UI"/>
              </a:rPr>
              <a:t>• 4-Week Sprint Schedule: </a:t>
            </a:r>
            <a:r>
              <a:rPr sz="950">
                <a:solidFill>
                  <a:srgbClr val="4B5563"/>
                </a:solidFill>
                <a:latin typeface="Segoe UI"/>
              </a:rPr>
              <a:t>Automated sprint breakdown focusing on closing critical skill deficits step by step.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11827"/>
                </a:solidFill>
                <a:latin typeface="Segoe UI"/>
              </a:rPr>
              <a:t>• Curated Learning Links: </a:t>
            </a:r>
            <a:r>
              <a:rPr sz="950">
                <a:solidFill>
                  <a:srgbClr val="4B5563"/>
                </a:solidFill>
                <a:latin typeface="Segoe UI"/>
              </a:rPr>
              <a:t>Recommends high-quality documentation, guided projects, and tutorials.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11827"/>
                </a:solidFill>
                <a:latin typeface="Segoe UI"/>
              </a:rPr>
              <a:t>• Proof of Work Deliverables: </a:t>
            </a:r>
            <a:r>
              <a:rPr sz="950">
                <a:solidFill>
                  <a:srgbClr val="4B5563"/>
                </a:solidFill>
                <a:latin typeface="Segoe UI"/>
              </a:rPr>
              <a:t>Prescribes specific GitHub project milestones to generate tangible proof.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069080"/>
            <a:ext cx="523036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01168" bIns="137160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INSTITUTIONAL PLACEMENT INTELLIGENCE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11827"/>
                </a:solidFill>
                <a:latin typeface="Segoe UI"/>
              </a:rPr>
              <a:t>• Batch Skill Heatmaps: </a:t>
            </a:r>
            <a:r>
              <a:rPr sz="950">
                <a:solidFill>
                  <a:srgbClr val="4B5563"/>
                </a:solidFill>
                <a:latin typeface="Segoe UI"/>
              </a:rPr>
              <a:t>Placement cells view cohort-wide trends and common technological weaknesses.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11827"/>
                </a:solidFill>
                <a:latin typeface="Segoe UI"/>
              </a:rPr>
              <a:t>• Pre-Placement Interventions: </a:t>
            </a:r>
            <a:r>
              <a:rPr sz="950">
                <a:solidFill>
                  <a:srgbClr val="4B5563"/>
                </a:solidFill>
                <a:latin typeface="Segoe UI"/>
              </a:rPr>
              <a:t>Enables organizing targeted bootcamps before recruitment drives commence.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11827"/>
                </a:solidFill>
                <a:latin typeface="Segoe UI"/>
              </a:rPr>
              <a:t>• Verified Candidate Shortlisting: </a:t>
            </a:r>
            <a:r>
              <a:rPr sz="950">
                <a:solidFill>
                  <a:srgbClr val="4B5563"/>
                </a:solidFill>
                <a:latin typeface="Segoe UI"/>
              </a:rPr>
              <a:t>Allows recruiters to filter students by demonstrable code proof rather than GPA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Segoe UI"/>
              </a:defRPr>
            </a:pPr>
            <a:r>
              <a:t>ProfiQ · AI-Powered Employability &amp; Career Readiness Analyzer  |  DataQuest 3.0 · Round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36576" bIns="0"/>
          <a:lstStyle/>
          <a:p>
            <a:pPr algn="ctr">
              <a:defRPr sz="900" b="1">
                <a:solidFill>
                  <a:srgbClr val="2563EB"/>
                </a:solidFill>
                <a:latin typeface="Segoe UI"/>
              </a:defRPr>
            </a:pPr>
            <a:r>
              <a:t>06 · DEFENSIBILITY &amp; HORIZON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Segoe UI"/>
              </a:defRPr>
            </a:pPr>
            <a:r>
              <a:t>Feasibility, Competitive Moat &amp; Growth Horizon</a:t>
            </a:r>
          </a:p>
          <a:p>
            <a:pPr>
              <a:spcBef>
                <a:spcPts val="300"/>
              </a:spcBef>
              <a:defRPr sz="1100">
                <a:solidFill>
                  <a:srgbClr val="4B5563"/>
                </a:solidFill>
                <a:latin typeface="Segoe UI"/>
              </a:defRPr>
            </a:pPr>
            <a:r>
              <a:t>Low operational run-rates, clear unfair advantages over legacy tools, and a defined post-hackathon roadmap.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6499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defRPr sz="1100" b="1">
                <a:solidFill>
                  <a:srgbClr val="E11D48"/>
                </a:solidFill>
                <a:latin typeface="Segoe UI"/>
              </a:defRPr>
            </a:pPr>
            <a:r>
              <a:t>COMPETITIVE MOAT</a:t>
            </a:r>
          </a:p>
          <a:p>
            <a:pPr>
              <a:spcBef>
                <a:spcPts val="1100"/>
              </a:spcBef>
            </a:pPr>
            <a:r>
              <a:rPr sz="1000" b="1">
                <a:solidFill>
                  <a:srgbClr val="111827"/>
                </a:solidFill>
                <a:latin typeface="Segoe UI"/>
              </a:rPr>
              <a:t>• Traditional ATS: </a:t>
            </a:r>
            <a:r>
              <a:rPr sz="950">
                <a:solidFill>
                  <a:srgbClr val="4B5563"/>
                </a:solidFill>
                <a:latin typeface="Segoe UI"/>
              </a:rPr>
              <a:t>Parses resume strings blindly; easily gamed by buzzword stuffing with zero evidence verification.</a:t>
            </a:r>
          </a:p>
          <a:p>
            <a:pPr>
              <a:spcBef>
                <a:spcPts val="1100"/>
              </a:spcBef>
            </a:pPr>
            <a:r>
              <a:rPr sz="1000" b="1">
                <a:solidFill>
                  <a:srgbClr val="111827"/>
                </a:solidFill>
                <a:latin typeface="Segoe UI"/>
              </a:rPr>
              <a:t>• LinkedIn Profiles: </a:t>
            </a:r>
            <a:r>
              <a:rPr sz="950">
                <a:solidFill>
                  <a:srgbClr val="4B5563"/>
                </a:solidFill>
                <a:latin typeface="Segoe UI"/>
              </a:rPr>
              <a:t>Relies solely on unverified self-reporting and social endorsements without code audits.</a:t>
            </a:r>
          </a:p>
          <a:p>
            <a:pPr>
              <a:spcBef>
                <a:spcPts val="1100"/>
              </a:spcBef>
            </a:pPr>
            <a:r>
              <a:rPr sz="1000" b="1">
                <a:solidFill>
                  <a:srgbClr val="111827"/>
                </a:solidFill>
                <a:latin typeface="Segoe UI"/>
              </a:rPr>
              <a:t>• Generic AI Chatbots: </a:t>
            </a:r>
            <a:r>
              <a:rPr sz="950">
                <a:solidFill>
                  <a:srgbClr val="4B5563"/>
                </a:solidFill>
                <a:latin typeface="Segoe UI"/>
              </a:rPr>
              <a:t>Provides generic advice without ingesting authentic developer artifacts or scoring mathematically.</a:t>
            </a:r>
          </a:p>
          <a:p>
            <a:pPr>
              <a:spcBef>
                <a:spcPts val="1100"/>
              </a:spcBef>
            </a:pPr>
            <a:r>
              <a:rPr sz="1000" b="1">
                <a:solidFill>
                  <a:srgbClr val="111827"/>
                </a:solidFill>
                <a:latin typeface="Segoe UI"/>
              </a:rPr>
              <a:t>• The ProfiQ Advantage: </a:t>
            </a:r>
            <a:r>
              <a:rPr sz="950">
                <a:solidFill>
                  <a:srgbClr val="4B5563"/>
                </a:solidFill>
                <a:latin typeface="Segoe UI"/>
              </a:rPr>
              <a:t>Only system combining multi-platform proof of work + industry benchmark alignment + automated remediation.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7" y="1645920"/>
            <a:ext cx="336499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FEASIBILITY &amp; RUN-RATE</a:t>
            </a:r>
          </a:p>
          <a:p>
            <a:pPr>
              <a:spcBef>
                <a:spcPts val="1100"/>
              </a:spcBef>
            </a:pPr>
            <a:r>
              <a:rPr sz="1000" b="1">
                <a:solidFill>
                  <a:srgbClr val="111827"/>
                </a:solidFill>
                <a:latin typeface="Segoe UI"/>
              </a:rPr>
              <a:t>• Minimal API Costs: </a:t>
            </a:r>
            <a:r>
              <a:rPr sz="950">
                <a:solidFill>
                  <a:srgbClr val="4B5563"/>
                </a:solidFill>
                <a:latin typeface="Segoe UI"/>
              </a:rPr>
              <a:t>Structured JSON prompts and token optimization keep LLM execution costs to fractions of a cent per profile.</a:t>
            </a:r>
          </a:p>
          <a:p>
            <a:pPr>
              <a:spcBef>
                <a:spcPts val="1100"/>
              </a:spcBef>
            </a:pPr>
            <a:r>
              <a:rPr sz="1000" b="1">
                <a:solidFill>
                  <a:srgbClr val="111827"/>
                </a:solidFill>
                <a:latin typeface="Segoe UI"/>
              </a:rPr>
              <a:t>• Deterministic Caching: </a:t>
            </a:r>
            <a:r>
              <a:rPr sz="950">
                <a:solidFill>
                  <a:srgbClr val="4B5563"/>
                </a:solidFill>
                <a:latin typeface="Segoe UI"/>
              </a:rPr>
              <a:t>Caches GitHub repository metadata and benchmark matrices to eliminate redundant API calls.</a:t>
            </a:r>
          </a:p>
          <a:p>
            <a:pPr>
              <a:spcBef>
                <a:spcPts val="1100"/>
              </a:spcBef>
            </a:pPr>
            <a:r>
              <a:rPr sz="1000" b="1">
                <a:solidFill>
                  <a:srgbClr val="111827"/>
                </a:solidFill>
                <a:latin typeface="Segoe UI"/>
              </a:rPr>
              <a:t>• Zero Infrastructure Barrier: </a:t>
            </a:r>
            <a:r>
              <a:rPr sz="950">
                <a:solidFill>
                  <a:srgbClr val="4B5563"/>
                </a:solidFill>
                <a:latin typeface="Segoe UI"/>
              </a:rPr>
              <a:t>Built on lightweight Node.js and MongoDB; easily deployed to serverless environments.</a:t>
            </a:r>
          </a:p>
          <a:p>
            <a:pPr>
              <a:spcBef>
                <a:spcPts val="1100"/>
              </a:spcBef>
            </a:pPr>
            <a:r>
              <a:rPr sz="1000" b="1">
                <a:solidFill>
                  <a:srgbClr val="111827"/>
                </a:solidFill>
                <a:latin typeface="Segoe UI"/>
              </a:rPr>
              <a:t>• Privacy &amp; Security: </a:t>
            </a:r>
            <a:r>
              <a:rPr sz="950">
                <a:solidFill>
                  <a:srgbClr val="4B5563"/>
                </a:solidFill>
                <a:latin typeface="Segoe UI"/>
              </a:rPr>
              <a:t>Inspects only public code artifacts; no intrusive access to private student credentials.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3296" y="1645920"/>
            <a:ext cx="336499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FUTURE DEVELOPMENT HORIZON</a:t>
            </a:r>
          </a:p>
          <a:p>
            <a:pPr>
              <a:spcBef>
                <a:spcPts val="1100"/>
              </a:spcBef>
            </a:pPr>
            <a:r>
              <a:rPr sz="1000" b="1">
                <a:solidFill>
                  <a:srgbClr val="111827"/>
                </a:solidFill>
                <a:latin typeface="Segoe UI"/>
              </a:rPr>
              <a:t>• Phase 1: Multi-Platform Ingestion: </a:t>
            </a:r>
            <a:r>
              <a:rPr sz="950">
                <a:solidFill>
                  <a:srgbClr val="4B5563"/>
                </a:solidFill>
                <a:latin typeface="Segoe UI"/>
              </a:rPr>
              <a:t>Expand connectors to LeetCode, Codeforces, HackerRank, and GitLab for algorithmic telemetry.</a:t>
            </a:r>
          </a:p>
          <a:p>
            <a:pPr>
              <a:spcBef>
                <a:spcPts val="1100"/>
              </a:spcBef>
            </a:pPr>
            <a:r>
              <a:rPr sz="1000" b="1">
                <a:solidFill>
                  <a:srgbClr val="111827"/>
                </a:solidFill>
                <a:latin typeface="Segoe UI"/>
              </a:rPr>
              <a:t>• Phase 2: University SIS Integration: </a:t>
            </a:r>
            <a:r>
              <a:rPr sz="950">
                <a:solidFill>
                  <a:srgbClr val="4B5563"/>
                </a:solidFill>
                <a:latin typeface="Segoe UI"/>
              </a:rPr>
              <a:t>Automated batch sync with university ERPs to track student growth across semesters.</a:t>
            </a:r>
          </a:p>
          <a:p>
            <a:pPr>
              <a:spcBef>
                <a:spcPts val="1100"/>
              </a:spcBef>
            </a:pPr>
            <a:r>
              <a:rPr sz="1000" b="1">
                <a:solidFill>
                  <a:srgbClr val="111827"/>
                </a:solidFill>
                <a:latin typeface="Segoe UI"/>
              </a:rPr>
              <a:t>• Phase 3: Recruiter Search Mode: </a:t>
            </a:r>
            <a:r>
              <a:rPr sz="950">
                <a:solidFill>
                  <a:srgbClr val="4B5563"/>
                </a:solidFill>
                <a:latin typeface="Segoe UI"/>
              </a:rPr>
              <a:t>Allow tech recruiters to query candidate pools by verified skills (e.g., 'React + Docker &gt; 85% proof').</a:t>
            </a:r>
          </a:p>
          <a:p>
            <a:pPr>
              <a:spcBef>
                <a:spcPts val="1100"/>
              </a:spcBef>
            </a:pPr>
            <a:r>
              <a:rPr sz="1000" b="1">
                <a:solidFill>
                  <a:srgbClr val="111827"/>
                </a:solidFill>
                <a:latin typeface="Segoe UI"/>
              </a:rPr>
              <a:t>• Phase 4: AI Mock Interviewer: </a:t>
            </a:r>
            <a:r>
              <a:rPr sz="950">
                <a:solidFill>
                  <a:srgbClr val="4B5563"/>
                </a:solidFill>
                <a:latin typeface="Segoe UI"/>
              </a:rPr>
              <a:t>Interactive voice agent that quizzes candidates specifically on their verified code repositories.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Segoe UI"/>
              </a:defRPr>
            </a:pPr>
            <a:r>
              <a:t>ProfiQ · AI-Powered Employability &amp; Career Readiness Analyzer  |  DataQuest 3.0 · Round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389120" y="777240"/>
            <a:ext cx="3413455" cy="347472"/>
          </a:xfrm>
          <a:prstGeom prst="roundRect">
            <a:avLst/>
          </a:prstGeom>
          <a:solidFill>
            <a:srgbClr val="FFF1F2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bIns="0"/>
          <a:lstStyle/>
          <a:p>
            <a:pPr algn="ctr">
              <a:defRPr sz="1000" b="1">
                <a:solidFill>
                  <a:srgbClr val="E11D48"/>
                </a:solidFill>
                <a:latin typeface="Segoe UI"/>
              </a:defRPr>
            </a:pPr>
            <a:r>
              <a:t>DATAQUEST 3.0 · ROUND 1 · TRACK DQWL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defRPr sz="5400" b="1">
                <a:solidFill>
                  <a:srgbClr val="111827"/>
                </a:solidFill>
                <a:latin typeface="Segoe UI"/>
              </a:defRPr>
            </a:pPr>
            <a:r>
              <a:t>THANK YOU</a:t>
            </a:r>
          </a:p>
          <a:p>
            <a:pPr algn="ctr">
              <a:spcBef>
                <a:spcPts val="600"/>
              </a:spcBef>
              <a:defRPr sz="1700" b="1">
                <a:solidFill>
                  <a:srgbClr val="2563EB"/>
                </a:solidFill>
                <a:latin typeface="Segoe UI"/>
              </a:defRPr>
            </a:pPr>
            <a:r>
              <a:t>ProfiQ — Turning Resume Claims into Verifiable Career Readiness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336499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28600" bIns="182880"/>
          <a:lstStyle/>
          <a:p>
            <a:pPr algn="ctr">
              <a:defRPr sz="1150" b="1">
                <a:solidFill>
                  <a:srgbClr val="2563EB"/>
                </a:solidFill>
                <a:latin typeface="Segoe UI"/>
              </a:defRPr>
            </a:pPr>
            <a:r>
              <a:t>PROJECT VISION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111827"/>
                </a:solidFill>
                <a:latin typeface="Segoe UI"/>
              </a:rPr>
              <a:t>• From Claims to Proof: </a:t>
            </a:r>
            <a:r>
              <a:rPr sz="1000">
                <a:solidFill>
                  <a:srgbClr val="4B5563"/>
                </a:solidFill>
                <a:latin typeface="Segoe UI"/>
              </a:rPr>
              <a:t>Empowering engineering students to back their claims with demonstrable code.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111827"/>
                </a:solidFill>
                <a:latin typeface="Segoe UI"/>
              </a:rPr>
              <a:t>• Data-Driven Placement: </a:t>
            </a:r>
            <a:r>
              <a:rPr sz="1000">
                <a:solidFill>
                  <a:srgbClr val="4B5563"/>
                </a:solidFill>
                <a:latin typeface="Segoe UI"/>
              </a:rPr>
              <a:t>Giving university placement cells actionable cohort telemetry.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111827"/>
                </a:solidFill>
                <a:latin typeface="Segoe UI"/>
              </a:rPr>
              <a:t>• Hiring Confidence: </a:t>
            </a:r>
            <a:r>
              <a:rPr sz="1000">
                <a:solidFill>
                  <a:srgbClr val="4B5563"/>
                </a:solidFill>
                <a:latin typeface="Segoe UI"/>
              </a:rPr>
              <a:t>Providing technical recruiters with verified talent pipelines.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7" y="2926080"/>
            <a:ext cx="336499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28600" bIns="182880"/>
          <a:lstStyle/>
          <a:p>
            <a:pPr algn="ctr">
              <a:defRPr sz="1150" b="1">
                <a:solidFill>
                  <a:srgbClr val="D97706"/>
                </a:solidFill>
                <a:latin typeface="Segoe UI"/>
              </a:defRPr>
            </a:pPr>
            <a:r>
              <a:t>TEAM [ 3Cuties ]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111827"/>
                </a:solidFill>
                <a:latin typeface="Segoe UI"/>
              </a:rPr>
              <a:t>• Aman Tyagi </a:t>
            </a:r>
            <a:r>
              <a:rPr sz="1000">
                <a:solidFill>
                  <a:srgbClr val="4B5563"/>
                </a:solidFill>
                <a:latin typeface="Segoe UI"/>
              </a:rPr>
              <a:t>(25BCE1710) — AI &amp; ML Lead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111827"/>
                </a:solidFill>
                <a:latin typeface="Segoe UI"/>
              </a:rPr>
              <a:t>• Siddhant Asati </a:t>
            </a:r>
            <a:r>
              <a:rPr sz="1000">
                <a:solidFill>
                  <a:srgbClr val="4B5563"/>
                </a:solidFill>
                <a:latin typeface="Segoe UI"/>
              </a:rPr>
              <a:t>(25BCE1633) — Backend &amp; Systems Lead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111827"/>
                </a:solidFill>
                <a:latin typeface="Segoe UI"/>
              </a:rPr>
              <a:t>• Sahaj Kumar </a:t>
            </a:r>
            <a:r>
              <a:rPr sz="1000">
                <a:solidFill>
                  <a:srgbClr val="4B5563"/>
                </a:solidFill>
                <a:latin typeface="Segoe UI"/>
              </a:rPr>
              <a:t>(25BCE1620) — Frontend &amp; UX Lead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111827"/>
                </a:solidFill>
                <a:latin typeface="Segoe UI"/>
              </a:rPr>
              <a:t>• Institution: </a:t>
            </a:r>
            <a:r>
              <a:rPr sz="1000">
                <a:solidFill>
                  <a:srgbClr val="4B5563"/>
                </a:solidFill>
                <a:latin typeface="Segoe UI"/>
              </a:rPr>
              <a:t>Vellore Institute of Technology (VIT)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3296" y="2926080"/>
            <a:ext cx="336499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28600" bIns="182880"/>
          <a:lstStyle/>
          <a:p>
            <a:pPr algn="ctr">
              <a:defRPr sz="1150" b="1">
                <a:solidFill>
                  <a:srgbClr val="10B981"/>
                </a:solidFill>
                <a:latin typeface="Segoe UI"/>
              </a:defRPr>
            </a:pPr>
            <a:r>
              <a:t>OPEN FOR Q&amp;A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111827"/>
                </a:solidFill>
                <a:latin typeface="Segoe UI"/>
              </a:rPr>
              <a:t>• Live Demonstration: </a:t>
            </a:r>
            <a:r>
              <a:rPr sz="1000">
                <a:solidFill>
                  <a:srgbClr val="4B5563"/>
                </a:solidFill>
                <a:latin typeface="Segoe UI"/>
              </a:rPr>
              <a:t>Ready for walkthrough of the Candidate Studio &amp; Placement Dashboard.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111827"/>
                </a:solidFill>
                <a:latin typeface="Segoe UI"/>
              </a:rPr>
              <a:t>• Codebase &amp; Tests: </a:t>
            </a:r>
            <a:r>
              <a:rPr sz="1000">
                <a:solidFill>
                  <a:srgbClr val="4B5563"/>
                </a:solidFill>
                <a:latin typeface="Segoe UI"/>
              </a:rPr>
              <a:t>Modular monorepo with automated unit &amp; end-to-end test suites.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111827"/>
                </a:solidFill>
                <a:latin typeface="Segoe UI"/>
              </a:rPr>
              <a:t>• Discussion: </a:t>
            </a:r>
            <a:r>
              <a:rPr sz="1000">
                <a:solidFill>
                  <a:srgbClr val="4B5563"/>
                </a:solidFill>
                <a:latin typeface="Segoe UI"/>
              </a:rPr>
              <a:t>We welcome questions on our scoring formula and verification heuristics.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